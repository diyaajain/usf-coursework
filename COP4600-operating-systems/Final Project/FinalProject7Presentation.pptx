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eb8c3a5e82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eb8c3a5e8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eb8c4d4dd5_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eb8c4d4dd5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eb8c3a5e8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eb8c3a5e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3" name="Google Shape;53;p2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2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5" name="Google Shape;55;p2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1" name="Google Shape;61;p2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2" name="Google Shape;62;p2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4" name="Google Shape;64;p2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5" name="Google Shape;65;p2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8" name="Google Shape;68;p2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0" name="Google Shape;70;p2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3" name="Google Shape;73;p2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6" name="Google Shape;76;p2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8" name="Google Shape;78;p2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0" name="Google Shape;80;p2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2" name="Google Shape;82;p2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6" name="Google Shape;86;p2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7" name="Google Shape;87;p2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9" name="Google Shape;89;p2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0" name="Google Shape;90;p2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2" name="Google Shape;92;p2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4" name="Google Shape;94;p2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7" name="Google Shape;97;p2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9" name="Google Shape;99;p2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2" name="Google Shape;102;p2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3" name="Google Shape;103;p2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6" name="Google Shape;106;p2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8" name="Google Shape;108;p2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2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/>
        </p:txBody>
      </p:sp>
      <p:sp>
        <p:nvSpPr>
          <p:cNvPr id="111" name="Google Shape;111;p2"/>
          <p:cNvSpPr txBox="1"/>
          <p:nvPr>
            <p:ph idx="10" type="dt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"/>
          <p:cNvSpPr txBox="1"/>
          <p:nvPr>
            <p:ph idx="11" type="ftr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"/>
          <p:cNvSpPr txBox="1"/>
          <p:nvPr>
            <p:ph idx="12" type="sldNum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17" name="Google Shape;117;p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"/>
          <p:cNvSpPr txBox="1"/>
          <p:nvPr>
            <p:ph idx="1" type="body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4" name="Google Shape;134;p6"/>
          <p:cNvSpPr txBox="1"/>
          <p:nvPr>
            <p:ph idx="2" type="body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41" name="Google Shape;141;p7"/>
          <p:cNvSpPr txBox="1"/>
          <p:nvPr>
            <p:ph idx="2" type="body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42" name="Google Shape;142;p7"/>
          <p:cNvSpPr txBox="1"/>
          <p:nvPr>
            <p:ph idx="3" type="body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43" name="Google Shape;143;p7"/>
          <p:cNvSpPr txBox="1"/>
          <p:nvPr>
            <p:ph idx="4" type="body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44" name="Google Shape;144;p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4" name="Google Shape;154;p9"/>
          <p:cNvSpPr txBox="1"/>
          <p:nvPr>
            <p:ph idx="2" type="body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55" name="Google Shape;155;p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0"/>
          <p:cNvSpPr/>
          <p:nvPr>
            <p:ph idx="2" type="pic"/>
          </p:nvPr>
        </p:nvSpPr>
        <p:spPr>
          <a:xfrm>
            <a:off x="7380721" y="609601"/>
            <a:ext cx="3666690" cy="5181599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2" name="Google Shape;162;p1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1"/>
          <p:cNvSpPr/>
          <p:nvPr>
            <p:ph idx="2" type="pic"/>
          </p:nvPr>
        </p:nvSpPr>
        <p:spPr>
          <a:xfrm>
            <a:off x="1141411" y="606426"/>
            <a:ext cx="9912354" cy="3299778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9" name="Google Shape;169;p1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75" name="Google Shape;175;p1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1" name="Google Shape;181;p13"/>
          <p:cNvSpPr txBox="1"/>
          <p:nvPr>
            <p:ph idx="2" type="body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2" name="Google Shape;182;p1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90" name="Google Shape;190;p1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5"/>
          <p:cNvSpPr txBox="1"/>
          <p:nvPr>
            <p:ph idx="1" type="body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6" name="Google Shape;196;p15"/>
          <p:cNvSpPr txBox="1"/>
          <p:nvPr>
            <p:ph idx="2" type="body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7" name="Google Shape;197;p15"/>
          <p:cNvSpPr txBox="1"/>
          <p:nvPr>
            <p:ph idx="3" type="body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8" name="Google Shape;198;p15"/>
          <p:cNvSpPr txBox="1"/>
          <p:nvPr>
            <p:ph idx="4" type="body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9" name="Google Shape;199;p15"/>
          <p:cNvSpPr txBox="1"/>
          <p:nvPr>
            <p:ph idx="5" type="body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0" name="Google Shape;200;p15"/>
          <p:cNvSpPr txBox="1"/>
          <p:nvPr>
            <p:ph idx="6" type="body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1" name="Google Shape;201;p1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6"/>
          <p:cNvSpPr txBox="1"/>
          <p:nvPr>
            <p:ph idx="1" type="body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7" name="Google Shape;207;p16"/>
          <p:cNvSpPr/>
          <p:nvPr>
            <p:ph idx="2" type="pic"/>
          </p:nvPr>
        </p:nvSpPr>
        <p:spPr>
          <a:xfrm>
            <a:off x="1141413" y="2666998"/>
            <a:ext cx="31952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08" name="Google Shape;208;p16"/>
          <p:cNvSpPr txBox="1"/>
          <p:nvPr>
            <p:ph idx="3" type="body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9" name="Google Shape;209;p16"/>
          <p:cNvSpPr txBox="1"/>
          <p:nvPr>
            <p:ph idx="4" type="body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0" name="Google Shape;210;p16"/>
          <p:cNvSpPr/>
          <p:nvPr>
            <p:ph idx="5" type="pic"/>
          </p:nvPr>
        </p:nvSpPr>
        <p:spPr>
          <a:xfrm>
            <a:off x="4489053" y="2666998"/>
            <a:ext cx="31989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1" name="Google Shape;211;p16"/>
          <p:cNvSpPr txBox="1"/>
          <p:nvPr>
            <p:ph idx="6" type="body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2" name="Google Shape;212;p16"/>
          <p:cNvSpPr txBox="1"/>
          <p:nvPr>
            <p:ph idx="7" type="body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3" name="Google Shape;213;p16"/>
          <p:cNvSpPr/>
          <p:nvPr>
            <p:ph idx="8" type="pic"/>
          </p:nvPr>
        </p:nvSpPr>
        <p:spPr>
          <a:xfrm>
            <a:off x="7852442" y="2666998"/>
            <a:ext cx="3194969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4" name="Google Shape;214;p16"/>
          <p:cNvSpPr txBox="1"/>
          <p:nvPr>
            <p:ph idx="9" type="body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5" name="Google Shape;215;p1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7"/>
          <p:cNvSpPr txBox="1"/>
          <p:nvPr>
            <p:ph idx="1" type="body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1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8"/>
          <p:cNvSpPr txBox="1"/>
          <p:nvPr>
            <p:ph idx="1" type="body"/>
          </p:nvPr>
        </p:nvSpPr>
        <p:spPr>
          <a:xfrm rot="5400000">
            <a:off x="2424905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7" name="Google Shape;227;p1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1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1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8" name="Google Shape;8;p1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" name="Google Shape;9;p1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" name="Google Shape;10;p1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" name="Google Shape;11;p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3" name="Google Shape;13;p1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5" name="Google Shape;15;p1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6" name="Google Shape;16;p1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1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9" name="Google Shape;19;p1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" name="Google Shape;20;p1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1" name="Google Shape;21;p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2" name="Google Shape;22;p1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" name="Google Shape;23;p1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4" name="Google Shape;24;p1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1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" name="Google Shape;27;p1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9" name="Google Shape;29;p1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" name="Google Shape;31;p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2" name="Google Shape;32;p1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5" name="Google Shape;35;p1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" name="Google Shape;36;p1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7" name="Google Shape;37;p1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8" name="Google Shape;38;p1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1" name="Google Shape;41;p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3" name="Google Shape;43;p1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5" name="Google Shape;45;p1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" name="Google Shape;47;p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49" name="Google Shape;49;p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0" name="Google Shape;50;p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1" name="Google Shape;51;p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wentieth Century"/>
              <a:buNone/>
            </a:pPr>
            <a:r>
              <a:rPr lang="en-US" sz="4400"/>
              <a:t>FIRST WRITERS – READERS PROBLEM IN A MICROCONTROLLER </a:t>
            </a:r>
            <a:endParaRPr/>
          </a:p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US"/>
              <a:t>BY: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GERMAN BECERRA, DIYA JAIN, DAT NGUYEN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 txBox="1"/>
          <p:nvPr>
            <p:ph type="ctrTitle"/>
          </p:nvPr>
        </p:nvSpPr>
        <p:spPr>
          <a:xfrm>
            <a:off x="2275007" y="39553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241" name="Google Shape;241;p20"/>
          <p:cNvSpPr txBox="1"/>
          <p:nvPr>
            <p:ph idx="1" type="subTitle"/>
          </p:nvPr>
        </p:nvSpPr>
        <p:spPr>
          <a:xfrm>
            <a:off x="2275007" y="2783133"/>
            <a:ext cx="8791575" cy="2387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Char char="•"/>
            </a:pPr>
            <a:r>
              <a:rPr lang="en-US"/>
              <a:t>DESCRIPTION OF THE PROBLEM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Char char="•"/>
            </a:pPr>
            <a:r>
              <a:rPr lang="en-US"/>
              <a:t>SOLUTION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Char char="•"/>
            </a:pPr>
            <a:r>
              <a:rPr lang="en-US"/>
              <a:t>IMPLEMENTATION DETAILS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Char char="•"/>
            </a:pPr>
            <a:r>
              <a:rPr lang="en-US"/>
              <a:t>DEMO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Arial"/>
              <a:buChar char="•"/>
            </a:pPr>
            <a:r>
              <a:rPr lang="en-US"/>
              <a:t>Q/A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/>
          <p:nvPr>
            <p:ph type="title"/>
          </p:nvPr>
        </p:nvSpPr>
        <p:spPr>
          <a:xfrm>
            <a:off x="1340705" y="68876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DESCRIPTION OF THE PROBLEM</a:t>
            </a:r>
            <a:endParaRPr/>
          </a:p>
        </p:txBody>
      </p:sp>
      <p:grpSp>
        <p:nvGrpSpPr>
          <p:cNvPr id="247" name="Google Shape;247;p21"/>
          <p:cNvGrpSpPr/>
          <p:nvPr/>
        </p:nvGrpSpPr>
        <p:grpSpPr>
          <a:xfrm>
            <a:off x="-3873559" y="553604"/>
            <a:ext cx="14532839" cy="6360393"/>
            <a:chOff x="-5341080" y="-817996"/>
            <a:chExt cx="14532839" cy="6360393"/>
          </a:xfrm>
        </p:grpSpPr>
        <p:sp>
          <p:nvSpPr>
            <p:cNvPr id="248" name="Google Shape;248;p21"/>
            <p:cNvSpPr/>
            <p:nvPr/>
          </p:nvSpPr>
          <p:spPr>
            <a:xfrm>
              <a:off x="-5341080" y="-817996"/>
              <a:ext cx="6360393" cy="6360393"/>
            </a:xfrm>
            <a:prstGeom prst="blockArc">
              <a:avLst>
                <a:gd fmla="val 18900000" name="adj1"/>
                <a:gd fmla="val 2700000" name="adj2"/>
                <a:gd fmla="val 340" name="adj3"/>
              </a:avLst>
            </a:prstGeom>
            <a:noFill/>
            <a:ln cap="flat" cmpd="sng" w="15875">
              <a:solidFill>
                <a:srgbClr val="0C37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655746" y="472440"/>
              <a:ext cx="8536013" cy="944880"/>
            </a:xfrm>
            <a:prstGeom prst="rect">
              <a:avLst/>
            </a:prstGeom>
            <a:solidFill>
              <a:srgbClr val="134670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1"/>
            <p:cNvSpPr txBox="1"/>
            <p:nvPr/>
          </p:nvSpPr>
          <p:spPr>
            <a:xfrm>
              <a:off x="655746" y="472440"/>
              <a:ext cx="8536013" cy="944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5875" lIns="749975" spcFirstLastPara="1" rIns="55875" wrap="square" tIns="55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wentieth Century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The project addresses the writer-reader problem in a microcontroller environment, favoring reader access while ensuring timely data acquisition from sensors and storage on an SD card.</a:t>
              </a:r>
              <a:endParaRPr b="0" i="0" sz="22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65196" y="354330"/>
              <a:ext cx="1181099" cy="1181099"/>
            </a:xfrm>
            <a:prstGeom prst="ellipse">
              <a:avLst/>
            </a:prstGeom>
            <a:solidFill>
              <a:schemeClr val="lt2"/>
            </a:solidFill>
            <a:ln cap="flat" cmpd="sng" w="15875">
              <a:solidFill>
                <a:srgbClr val="1346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999210" y="1889759"/>
              <a:ext cx="8192549" cy="944880"/>
            </a:xfrm>
            <a:prstGeom prst="rect">
              <a:avLst/>
            </a:prstGeom>
            <a:solidFill>
              <a:srgbClr val="134670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1"/>
            <p:cNvSpPr txBox="1"/>
            <p:nvPr/>
          </p:nvSpPr>
          <p:spPr>
            <a:xfrm>
              <a:off x="999210" y="1889759"/>
              <a:ext cx="8192549" cy="944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5875" lIns="749975" spcFirstLastPara="1" rIns="55875" wrap="square" tIns="55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wentieth Century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ESP32-WVROOM-32D, intended for a rocket payload application to determine rocket survivability metrics and position.</a:t>
              </a:r>
              <a:endParaRPr b="0" i="0" sz="22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408660" y="1771649"/>
              <a:ext cx="1181099" cy="1181099"/>
            </a:xfrm>
            <a:prstGeom prst="ellipse">
              <a:avLst/>
            </a:prstGeom>
            <a:solidFill>
              <a:schemeClr val="lt2"/>
            </a:solidFill>
            <a:ln cap="flat" cmpd="sng" w="15875">
              <a:solidFill>
                <a:srgbClr val="1346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655746" y="3307080"/>
              <a:ext cx="8536013" cy="944880"/>
            </a:xfrm>
            <a:prstGeom prst="rect">
              <a:avLst/>
            </a:prstGeom>
            <a:solidFill>
              <a:srgbClr val="134670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1"/>
            <p:cNvSpPr txBox="1"/>
            <p:nvPr/>
          </p:nvSpPr>
          <p:spPr>
            <a:xfrm>
              <a:off x="655746" y="3307080"/>
              <a:ext cx="8536013" cy="944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5875" lIns="749975" spcFirstLastPara="1" rIns="55875" wrap="square" tIns="55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wentieth Century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Ensuring that no reader is delayed unless a writer has obtained permission to use the shared object (favoring readers).</a:t>
              </a:r>
              <a:endParaRPr b="0" i="0" sz="22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65196" y="3188970"/>
              <a:ext cx="1181099" cy="1181099"/>
            </a:xfrm>
            <a:prstGeom prst="ellipse">
              <a:avLst/>
            </a:prstGeom>
            <a:solidFill>
              <a:schemeClr val="lt2"/>
            </a:solidFill>
            <a:ln cap="flat" cmpd="sng" w="15875">
              <a:solidFill>
                <a:srgbClr val="1346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 txBox="1"/>
          <p:nvPr>
            <p:ph type="title"/>
          </p:nvPr>
        </p:nvSpPr>
        <p:spPr>
          <a:xfrm>
            <a:off x="1257488" y="0"/>
            <a:ext cx="9906000" cy="12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SOLUTION</a:t>
            </a:r>
            <a:endParaRPr/>
          </a:p>
        </p:txBody>
      </p:sp>
      <p:grpSp>
        <p:nvGrpSpPr>
          <p:cNvPr id="263" name="Google Shape;263;p22"/>
          <p:cNvGrpSpPr/>
          <p:nvPr/>
        </p:nvGrpSpPr>
        <p:grpSpPr>
          <a:xfrm>
            <a:off x="1492524" y="1490298"/>
            <a:ext cx="9435929" cy="4859764"/>
            <a:chOff x="992" y="677829"/>
            <a:chExt cx="8126015" cy="4063008"/>
          </a:xfrm>
        </p:grpSpPr>
        <p:sp>
          <p:nvSpPr>
            <p:cNvPr id="264" name="Google Shape;264;p22"/>
            <p:cNvSpPr/>
            <p:nvPr/>
          </p:nvSpPr>
          <p:spPr>
            <a:xfrm>
              <a:off x="992" y="677829"/>
              <a:ext cx="2321718" cy="1160859"/>
            </a:xfrm>
            <a:prstGeom prst="roundRect">
              <a:avLst>
                <a:gd fmla="val 10000" name="adj"/>
              </a:avLst>
            </a:prstGeom>
            <a:solidFill>
              <a:srgbClr val="134670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2"/>
            <p:cNvSpPr txBox="1"/>
            <p:nvPr/>
          </p:nvSpPr>
          <p:spPr>
            <a:xfrm>
              <a:off x="34992" y="711829"/>
              <a:ext cx="2253718" cy="1092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51425" spcFirstLastPara="1" rIns="51425" wrap="square" tIns="34275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Twentieth Century"/>
                <a:buNone/>
              </a:pPr>
              <a:r>
                <a:rPr b="1" i="0" lang="en-US" sz="27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Thread Libraries Selection</a:t>
              </a:r>
              <a:endParaRPr b="0" i="0" sz="27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66" name="Google Shape;266;p22"/>
            <p:cNvSpPr/>
            <p:nvPr/>
          </p:nvSpPr>
          <p:spPr>
            <a:xfrm>
              <a:off x="233164" y="1838688"/>
              <a:ext cx="232171" cy="870644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0C375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67" name="Google Shape;267;p22"/>
            <p:cNvSpPr/>
            <p:nvPr/>
          </p:nvSpPr>
          <p:spPr>
            <a:xfrm>
              <a:off x="465335" y="2128903"/>
              <a:ext cx="1857374" cy="1160859"/>
            </a:xfrm>
            <a:prstGeom prst="roundRect">
              <a:avLst>
                <a:gd fmla="val 10000" name="adj"/>
              </a:avLst>
            </a:prstGeom>
            <a:solidFill>
              <a:schemeClr val="lt2">
                <a:alpha val="89803"/>
              </a:schemeClr>
            </a:solidFill>
            <a:ln cap="flat" cmpd="sng" w="15875">
              <a:solidFill>
                <a:srgbClr val="1346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2"/>
            <p:cNvSpPr txBox="1"/>
            <p:nvPr/>
          </p:nvSpPr>
          <p:spPr>
            <a:xfrm>
              <a:off x="499335" y="2162903"/>
              <a:ext cx="1789374" cy="1092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22850" spcFirstLastPara="1" rIns="22850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wentieth Century"/>
                <a:buNone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Utilizing thread libraries like POSIX pthreads or the esp_pthread.h library for multi-threaded operations within the ESP32 environment.</a:t>
              </a:r>
              <a:endParaRPr b="0" i="0" sz="13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69" name="Google Shape;269;p22"/>
            <p:cNvSpPr/>
            <p:nvPr/>
          </p:nvSpPr>
          <p:spPr>
            <a:xfrm>
              <a:off x="233164" y="1838688"/>
              <a:ext cx="232171" cy="2321718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0C375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0" name="Google Shape;270;p22"/>
            <p:cNvSpPr/>
            <p:nvPr/>
          </p:nvSpPr>
          <p:spPr>
            <a:xfrm>
              <a:off x="465335" y="3579978"/>
              <a:ext cx="1857374" cy="1160859"/>
            </a:xfrm>
            <a:prstGeom prst="roundRect">
              <a:avLst>
                <a:gd fmla="val 10000" name="adj"/>
              </a:avLst>
            </a:prstGeom>
            <a:solidFill>
              <a:schemeClr val="lt2">
                <a:alpha val="89803"/>
              </a:schemeClr>
            </a:solidFill>
            <a:ln cap="flat" cmpd="sng" w="15875">
              <a:solidFill>
                <a:srgbClr val="1346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2"/>
            <p:cNvSpPr txBox="1"/>
            <p:nvPr/>
          </p:nvSpPr>
          <p:spPr>
            <a:xfrm>
              <a:off x="499335" y="3613978"/>
              <a:ext cx="1789374" cy="1092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22850" spcFirstLastPara="1" rIns="22850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wentieth Century"/>
                <a:buNone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These libraries facilitate concurrent execution of tasks, ensuring efficient sensor data reading and SD card writing without causing unnecessary delays.</a:t>
              </a:r>
              <a:endParaRPr b="0" i="0" sz="13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72" name="Google Shape;272;p22"/>
            <p:cNvSpPr/>
            <p:nvPr/>
          </p:nvSpPr>
          <p:spPr>
            <a:xfrm>
              <a:off x="2903140" y="677829"/>
              <a:ext cx="2321718" cy="1160859"/>
            </a:xfrm>
            <a:prstGeom prst="roundRect">
              <a:avLst>
                <a:gd fmla="val 10000" name="adj"/>
              </a:avLst>
            </a:prstGeom>
            <a:solidFill>
              <a:srgbClr val="134670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2"/>
            <p:cNvSpPr txBox="1"/>
            <p:nvPr/>
          </p:nvSpPr>
          <p:spPr>
            <a:xfrm>
              <a:off x="2937140" y="711829"/>
              <a:ext cx="2253718" cy="1092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51425" spcFirstLastPara="1" rIns="51425" wrap="square" tIns="34275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Twentieth Century"/>
                <a:buNone/>
              </a:pPr>
              <a:r>
                <a:rPr b="1" i="0" lang="en-US" sz="27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Sensor Module Integration (</a:t>
              </a:r>
              <a:r>
                <a:rPr b="1" lang="en-US" sz="27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BNO055</a:t>
              </a:r>
              <a:r>
                <a:rPr b="1" i="0" lang="en-US" sz="27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)</a:t>
              </a:r>
              <a:endParaRPr b="0" i="0" sz="27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3135312" y="1838688"/>
              <a:ext cx="232171" cy="870644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0C375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5" name="Google Shape;275;p22"/>
            <p:cNvSpPr/>
            <p:nvPr/>
          </p:nvSpPr>
          <p:spPr>
            <a:xfrm>
              <a:off x="3367484" y="2128903"/>
              <a:ext cx="1857374" cy="1160859"/>
            </a:xfrm>
            <a:prstGeom prst="roundRect">
              <a:avLst>
                <a:gd fmla="val 10000" name="adj"/>
              </a:avLst>
            </a:prstGeom>
            <a:solidFill>
              <a:schemeClr val="lt2">
                <a:alpha val="89803"/>
              </a:schemeClr>
            </a:solidFill>
            <a:ln cap="flat" cmpd="sng" w="15875">
              <a:solidFill>
                <a:srgbClr val="1346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2"/>
            <p:cNvSpPr txBox="1"/>
            <p:nvPr/>
          </p:nvSpPr>
          <p:spPr>
            <a:xfrm>
              <a:off x="3401484" y="2162903"/>
              <a:ext cx="1789374" cy="1092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22850" spcFirstLastPara="1" rIns="22850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wentieth Century"/>
                <a:buNone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Choosing the </a:t>
              </a:r>
              <a:r>
                <a:rPr lang="en-US" sz="13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BNO055 </a:t>
              </a:r>
              <a:r>
                <a:rPr b="0" i="0" lang="en-US" sz="13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accelerometer for its reliability and accuracy in capturing rocket dynamics.</a:t>
              </a:r>
              <a:endParaRPr b="0" i="0" sz="13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3135312" y="1838688"/>
              <a:ext cx="232171" cy="2321718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0C375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8" name="Google Shape;278;p22"/>
            <p:cNvSpPr/>
            <p:nvPr/>
          </p:nvSpPr>
          <p:spPr>
            <a:xfrm>
              <a:off x="3367484" y="3579978"/>
              <a:ext cx="1857374" cy="1160859"/>
            </a:xfrm>
            <a:prstGeom prst="roundRect">
              <a:avLst>
                <a:gd fmla="val 10000" name="adj"/>
              </a:avLst>
            </a:prstGeom>
            <a:solidFill>
              <a:schemeClr val="lt2">
                <a:alpha val="89803"/>
              </a:schemeClr>
            </a:solidFill>
            <a:ln cap="flat" cmpd="sng" w="15875">
              <a:solidFill>
                <a:srgbClr val="1346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2"/>
            <p:cNvSpPr txBox="1"/>
            <p:nvPr/>
          </p:nvSpPr>
          <p:spPr>
            <a:xfrm>
              <a:off x="3401484" y="3613978"/>
              <a:ext cx="1789374" cy="1092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22850" spcFirstLastPara="1" rIns="22850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wentieth Century"/>
                <a:buNone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Employing I2C communication to swiftly acquire data from the </a:t>
              </a:r>
              <a:r>
                <a:rPr lang="en-US" sz="13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BNO055</a:t>
              </a:r>
              <a:r>
                <a:rPr b="0" i="0" lang="en-US" sz="13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 and potentially other sensors.</a:t>
              </a:r>
              <a:endParaRPr b="0" i="0" sz="13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5805289" y="677829"/>
              <a:ext cx="2321718" cy="1160859"/>
            </a:xfrm>
            <a:prstGeom prst="roundRect">
              <a:avLst>
                <a:gd fmla="val 10000" name="adj"/>
              </a:avLst>
            </a:prstGeom>
            <a:solidFill>
              <a:srgbClr val="134670"/>
            </a:solidFill>
            <a:ln cap="flat" cmpd="sng" w="158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 txBox="1"/>
            <p:nvPr/>
          </p:nvSpPr>
          <p:spPr>
            <a:xfrm>
              <a:off x="5839289" y="711829"/>
              <a:ext cx="2253718" cy="1092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51425" spcFirstLastPara="1" rIns="5142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Twentieth Century"/>
                <a:buNone/>
              </a:pPr>
              <a:r>
                <a:rPr b="0" i="0" lang="en-US" sz="27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Storage Handling Strategy</a:t>
              </a:r>
              <a:endParaRPr/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6037460" y="1838688"/>
              <a:ext cx="232171" cy="870644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0C375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83" name="Google Shape;283;p22"/>
            <p:cNvSpPr/>
            <p:nvPr/>
          </p:nvSpPr>
          <p:spPr>
            <a:xfrm>
              <a:off x="6269632" y="2128903"/>
              <a:ext cx="1857374" cy="1160859"/>
            </a:xfrm>
            <a:prstGeom prst="roundRect">
              <a:avLst>
                <a:gd fmla="val 10000" name="adj"/>
              </a:avLst>
            </a:prstGeom>
            <a:solidFill>
              <a:schemeClr val="lt2">
                <a:alpha val="89803"/>
              </a:schemeClr>
            </a:solidFill>
            <a:ln cap="flat" cmpd="sng" w="15875">
              <a:solidFill>
                <a:srgbClr val="1346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 txBox="1"/>
            <p:nvPr/>
          </p:nvSpPr>
          <p:spPr>
            <a:xfrm>
              <a:off x="6303632" y="2162903"/>
              <a:ext cx="1789500" cy="10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22850" spcFirstLastPara="1" rIns="22850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wentieth Century"/>
                <a:buNone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Integration of SDMMC/SPI Host APIs to ensure efficient and reliable storage on the SD card.</a:t>
              </a:r>
              <a:endParaRPr b="0" i="0" sz="13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6037460" y="1838688"/>
              <a:ext cx="232171" cy="2321718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0C375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86" name="Google Shape;286;p22"/>
            <p:cNvSpPr/>
            <p:nvPr/>
          </p:nvSpPr>
          <p:spPr>
            <a:xfrm>
              <a:off x="6269632" y="3579978"/>
              <a:ext cx="1857374" cy="1160859"/>
            </a:xfrm>
            <a:prstGeom prst="roundRect">
              <a:avLst>
                <a:gd fmla="val 10000" name="adj"/>
              </a:avLst>
            </a:prstGeom>
            <a:solidFill>
              <a:schemeClr val="lt2">
                <a:alpha val="89803"/>
              </a:schemeClr>
            </a:solidFill>
            <a:ln cap="flat" cmpd="sng" w="15875">
              <a:solidFill>
                <a:srgbClr val="1346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 txBox="1"/>
            <p:nvPr/>
          </p:nvSpPr>
          <p:spPr>
            <a:xfrm>
              <a:off x="6303632" y="3613978"/>
              <a:ext cx="1789374" cy="1092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22850" spcFirstLastPara="1" rIns="22850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wentieth Century"/>
                <a:buNone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Prioritizing speed and accuracy in logging sensor values promptly onto the SD card for further analysis.</a:t>
              </a:r>
              <a:endParaRPr b="0" i="0" sz="13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 txBox="1"/>
          <p:nvPr>
            <p:ph type="title"/>
          </p:nvPr>
        </p:nvSpPr>
        <p:spPr>
          <a:xfrm>
            <a:off x="1141400" y="-7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IMPLEMENTATION DETAILS </a:t>
            </a:r>
            <a:endParaRPr/>
          </a:p>
        </p:txBody>
      </p:sp>
      <p:sp>
        <p:nvSpPr>
          <p:cNvPr id="293" name="Google Shape;293;p23"/>
          <p:cNvSpPr txBox="1"/>
          <p:nvPr>
            <p:ph idx="1" type="body"/>
          </p:nvPr>
        </p:nvSpPr>
        <p:spPr>
          <a:xfrm>
            <a:off x="1141412" y="1658149"/>
            <a:ext cx="9906000" cy="3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Libraries and Hardware Initialization: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Libraries such as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Wire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Adafruit_Sensor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Adafruit_BNO055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SPI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SD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are included.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Hardware configurations and pin assignments are set for the SD card module and sensor connections.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Initialization and Calibration: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The code initializes the BNO055 sensor, calibrates it, and waits for proper calibration.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Initializations for timing variables and statistical variables (such as standard deviations) for sensor error estimation are set.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"/>
          <p:cNvSpPr txBox="1"/>
          <p:nvPr>
            <p:ph type="title"/>
          </p:nvPr>
        </p:nvSpPr>
        <p:spPr>
          <a:xfrm>
            <a:off x="1142988" y="-7"/>
            <a:ext cx="9906000" cy="1478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DETAILS (CONT.)</a:t>
            </a:r>
            <a:endParaRPr/>
          </a:p>
        </p:txBody>
      </p:sp>
      <p:sp>
        <p:nvSpPr>
          <p:cNvPr id="299" name="Google Shape;299;p24"/>
          <p:cNvSpPr txBox="1"/>
          <p:nvPr>
            <p:ph idx="1" type="body"/>
          </p:nvPr>
        </p:nvSpPr>
        <p:spPr>
          <a:xfrm>
            <a:off x="1143012" y="1478712"/>
            <a:ext cx="9906000" cy="354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Data Acquisition and Processing: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consumer()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function continuously reads data from the BNO055 sensor, fetching accelerometer data and quaternion values.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Data processing includes high-pass filtering and integration to estimate velocity and position.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Kalman filtering techniques are implemented for predicting next states and estimating covariances.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File Handling and Storage: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Data from the sensor fusion and estimation processes are stored in various linked lists (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accel_vals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velocity_vals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position_vals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Kvel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Kpos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).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appendFile()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 function handles the storage of sensor data onto an SD card in a specified file (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ploutoun.txt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).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"/>
          <p:cNvSpPr txBox="1"/>
          <p:nvPr>
            <p:ph type="title"/>
          </p:nvPr>
        </p:nvSpPr>
        <p:spPr>
          <a:xfrm>
            <a:off x="1143000" y="492676"/>
            <a:ext cx="9906000" cy="1362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</a:t>
            </a:r>
            <a:endParaRPr/>
          </a:p>
        </p:txBody>
      </p:sp>
      <p:pic>
        <p:nvPicPr>
          <p:cNvPr id="305" name="Google Shape;305;p25"/>
          <p:cNvPicPr preferRelativeResize="0"/>
          <p:nvPr/>
        </p:nvPicPr>
        <p:blipFill rotWithShape="1">
          <a:blip r:embed="rId3">
            <a:alphaModFix/>
          </a:blip>
          <a:srcRect b="0" l="0" r="56074" t="0"/>
          <a:stretch/>
        </p:blipFill>
        <p:spPr>
          <a:xfrm rot="5400000">
            <a:off x="2304437" y="798847"/>
            <a:ext cx="1877875" cy="52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5"/>
          <p:cNvPicPr preferRelativeResize="0"/>
          <p:nvPr/>
        </p:nvPicPr>
        <p:blipFill rotWithShape="1">
          <a:blip r:embed="rId3">
            <a:alphaModFix/>
          </a:blip>
          <a:srcRect b="1250" l="55591" r="0" t="-1250"/>
          <a:stretch/>
        </p:blipFill>
        <p:spPr>
          <a:xfrm rot="5400000">
            <a:off x="8178349" y="798837"/>
            <a:ext cx="1898601" cy="526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 txBox="1"/>
          <p:nvPr/>
        </p:nvSpPr>
        <p:spPr>
          <a:xfrm>
            <a:off x="2704800" y="4811775"/>
            <a:ext cx="6782400" cy="11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CECF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meticulously soldered physical system with an added LM2596 module for precise voltage regulation.</a:t>
            </a:r>
            <a:endParaRPr sz="4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 txBox="1"/>
          <p:nvPr>
            <p:ph type="title"/>
          </p:nvPr>
        </p:nvSpPr>
        <p:spPr>
          <a:xfrm>
            <a:off x="1141413" y="618517"/>
            <a:ext cx="10194802" cy="5465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DEMO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/>
          <p:nvPr>
            <p:ph type="title"/>
          </p:nvPr>
        </p:nvSpPr>
        <p:spPr>
          <a:xfrm>
            <a:off x="1141425" y="618544"/>
            <a:ext cx="9906000" cy="5436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